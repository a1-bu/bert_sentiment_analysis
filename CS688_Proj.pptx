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81"/>
  </p:normalViewPr>
  <p:slideViewPr>
    <p:cSldViewPr snapToGrid="0">
      <p:cViewPr varScale="1">
        <p:scale>
          <a:sx n="147" d="100"/>
          <a:sy n="147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EA63ED-16B7-46B3-B93C-42EDBA60E17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8FCB79-1F5F-48EC-B1DE-D86A7BB71848}">
      <dgm:prSet/>
      <dgm:spPr/>
      <dgm:t>
        <a:bodyPr/>
        <a:lstStyle/>
        <a:p>
          <a:r>
            <a:rPr lang="en-US"/>
            <a:t>Used Jupyter Notebook to merge csv files and analyze data from BERT model output. </a:t>
          </a:r>
        </a:p>
      </dgm:t>
    </dgm:pt>
    <dgm:pt modelId="{66D5823D-C00F-4C21-8061-D71DCF01D78B}" type="parTrans" cxnId="{161D4221-A14B-4A99-A990-33C9CEEFA9BF}">
      <dgm:prSet/>
      <dgm:spPr/>
      <dgm:t>
        <a:bodyPr/>
        <a:lstStyle/>
        <a:p>
          <a:endParaRPr lang="en-US"/>
        </a:p>
      </dgm:t>
    </dgm:pt>
    <dgm:pt modelId="{D1E2945C-5EB6-41AD-A19B-368350B301D0}" type="sibTrans" cxnId="{161D4221-A14B-4A99-A990-33C9CEEFA9BF}">
      <dgm:prSet/>
      <dgm:spPr/>
      <dgm:t>
        <a:bodyPr/>
        <a:lstStyle/>
        <a:p>
          <a:endParaRPr lang="en-US"/>
        </a:p>
      </dgm:t>
    </dgm:pt>
    <dgm:pt modelId="{E46165D4-2BE6-4B04-89DB-E2FA3EDE7D56}">
      <dgm:prSet/>
      <dgm:spPr/>
      <dgm:t>
        <a:bodyPr/>
        <a:lstStyle/>
        <a:p>
          <a:r>
            <a:rPr lang="en-US"/>
            <a:t>Decision Tree performed better than Logistic Regression for predicting which match a comment came from. </a:t>
          </a:r>
        </a:p>
      </dgm:t>
    </dgm:pt>
    <dgm:pt modelId="{0537194C-8D15-4F3C-99FD-F20AA4A2ACF9}" type="parTrans" cxnId="{E0F11F7B-00EF-42B3-A8CB-A8E18C96B458}">
      <dgm:prSet/>
      <dgm:spPr/>
      <dgm:t>
        <a:bodyPr/>
        <a:lstStyle/>
        <a:p>
          <a:endParaRPr lang="en-US"/>
        </a:p>
      </dgm:t>
    </dgm:pt>
    <dgm:pt modelId="{111247EF-8783-48B9-B859-055222334C37}" type="sibTrans" cxnId="{E0F11F7B-00EF-42B3-A8CB-A8E18C96B458}">
      <dgm:prSet/>
      <dgm:spPr/>
      <dgm:t>
        <a:bodyPr/>
        <a:lstStyle/>
        <a:p>
          <a:endParaRPr lang="en-US"/>
        </a:p>
      </dgm:t>
    </dgm:pt>
    <dgm:pt modelId="{5A9DCE45-779A-4EEE-B2EF-5AF9355F5465}">
      <dgm:prSet/>
      <dgm:spPr/>
      <dgm:t>
        <a:bodyPr/>
        <a:lstStyle/>
        <a:p>
          <a:r>
            <a:rPr lang="en-US"/>
            <a:t>Visualized data in Jupyter Notebook before moving into Streamlit app</a:t>
          </a:r>
        </a:p>
      </dgm:t>
    </dgm:pt>
    <dgm:pt modelId="{D8FC0C9F-A08E-4587-A3CC-83AF4C80B4A1}" type="parTrans" cxnId="{73EBF281-569F-4E1E-BBF0-4D1D993C5466}">
      <dgm:prSet/>
      <dgm:spPr/>
      <dgm:t>
        <a:bodyPr/>
        <a:lstStyle/>
        <a:p>
          <a:endParaRPr lang="en-US"/>
        </a:p>
      </dgm:t>
    </dgm:pt>
    <dgm:pt modelId="{B21362B9-F594-4D73-AD15-7DB7BFF0A527}" type="sibTrans" cxnId="{73EBF281-569F-4E1E-BBF0-4D1D993C5466}">
      <dgm:prSet/>
      <dgm:spPr/>
      <dgm:t>
        <a:bodyPr/>
        <a:lstStyle/>
        <a:p>
          <a:endParaRPr lang="en-US"/>
        </a:p>
      </dgm:t>
    </dgm:pt>
    <dgm:pt modelId="{7F0A2ADF-B564-48C6-8AB2-295711D7B440}" type="pres">
      <dgm:prSet presAssocID="{06EA63ED-16B7-46B3-B93C-42EDBA60E172}" presName="root" presStyleCnt="0">
        <dgm:presLayoutVars>
          <dgm:dir/>
          <dgm:resizeHandles val="exact"/>
        </dgm:presLayoutVars>
      </dgm:prSet>
      <dgm:spPr/>
    </dgm:pt>
    <dgm:pt modelId="{1F567DA1-09A3-4808-8C72-1F6507A0AC4D}" type="pres">
      <dgm:prSet presAssocID="{EB8FCB79-1F5F-48EC-B1DE-D86A7BB71848}" presName="compNode" presStyleCnt="0"/>
      <dgm:spPr/>
    </dgm:pt>
    <dgm:pt modelId="{65F3E9AC-FDDF-454C-A2F8-9C76FEA4092D}" type="pres">
      <dgm:prSet presAssocID="{EB8FCB79-1F5F-48EC-B1DE-D86A7BB718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8F36D7A-679E-48B2-B4A1-DC907C8108F5}" type="pres">
      <dgm:prSet presAssocID="{EB8FCB79-1F5F-48EC-B1DE-D86A7BB71848}" presName="spaceRect" presStyleCnt="0"/>
      <dgm:spPr/>
    </dgm:pt>
    <dgm:pt modelId="{34BF752C-45BF-45BA-8ACD-6FB17911222A}" type="pres">
      <dgm:prSet presAssocID="{EB8FCB79-1F5F-48EC-B1DE-D86A7BB71848}" presName="textRect" presStyleLbl="revTx" presStyleIdx="0" presStyleCnt="3">
        <dgm:presLayoutVars>
          <dgm:chMax val="1"/>
          <dgm:chPref val="1"/>
        </dgm:presLayoutVars>
      </dgm:prSet>
      <dgm:spPr/>
    </dgm:pt>
    <dgm:pt modelId="{D3BD1041-F771-40F2-BF40-349C22657F54}" type="pres">
      <dgm:prSet presAssocID="{D1E2945C-5EB6-41AD-A19B-368350B301D0}" presName="sibTrans" presStyleCnt="0"/>
      <dgm:spPr/>
    </dgm:pt>
    <dgm:pt modelId="{3210D44D-DD90-4B74-ADFB-969D326AF1FA}" type="pres">
      <dgm:prSet presAssocID="{E46165D4-2BE6-4B04-89DB-E2FA3EDE7D56}" presName="compNode" presStyleCnt="0"/>
      <dgm:spPr/>
    </dgm:pt>
    <dgm:pt modelId="{60419B37-786E-45F0-B9BB-1C3D36CA312A}" type="pres">
      <dgm:prSet presAssocID="{E46165D4-2BE6-4B04-89DB-E2FA3EDE7D5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0B3F48E-6659-4635-A3BC-7FA86659D7D5}" type="pres">
      <dgm:prSet presAssocID="{E46165D4-2BE6-4B04-89DB-E2FA3EDE7D56}" presName="spaceRect" presStyleCnt="0"/>
      <dgm:spPr/>
    </dgm:pt>
    <dgm:pt modelId="{F6E0B4D2-8E15-4FBD-9EFC-86DF2E7518E3}" type="pres">
      <dgm:prSet presAssocID="{E46165D4-2BE6-4B04-89DB-E2FA3EDE7D56}" presName="textRect" presStyleLbl="revTx" presStyleIdx="1" presStyleCnt="3">
        <dgm:presLayoutVars>
          <dgm:chMax val="1"/>
          <dgm:chPref val="1"/>
        </dgm:presLayoutVars>
      </dgm:prSet>
      <dgm:spPr/>
    </dgm:pt>
    <dgm:pt modelId="{3422D7B3-9CDD-4DA7-80B1-97F29E074252}" type="pres">
      <dgm:prSet presAssocID="{111247EF-8783-48B9-B859-055222334C37}" presName="sibTrans" presStyleCnt="0"/>
      <dgm:spPr/>
    </dgm:pt>
    <dgm:pt modelId="{C9466720-E9F0-4695-B131-316D409734AB}" type="pres">
      <dgm:prSet presAssocID="{5A9DCE45-779A-4EEE-B2EF-5AF9355F5465}" presName="compNode" presStyleCnt="0"/>
      <dgm:spPr/>
    </dgm:pt>
    <dgm:pt modelId="{BE0A5134-0DCC-46C2-AF33-83BC97D04519}" type="pres">
      <dgm:prSet presAssocID="{5A9DCE45-779A-4EEE-B2EF-5AF9355F546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8B68F30-983D-4116-A982-963709340524}" type="pres">
      <dgm:prSet presAssocID="{5A9DCE45-779A-4EEE-B2EF-5AF9355F5465}" presName="spaceRect" presStyleCnt="0"/>
      <dgm:spPr/>
    </dgm:pt>
    <dgm:pt modelId="{08E93DCE-F258-4FE9-BB20-109FC6F7299D}" type="pres">
      <dgm:prSet presAssocID="{5A9DCE45-779A-4EEE-B2EF-5AF9355F546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08B001D-8FD2-4642-8874-D4D4C3725EA0}" type="presOf" srcId="{EB8FCB79-1F5F-48EC-B1DE-D86A7BB71848}" destId="{34BF752C-45BF-45BA-8ACD-6FB17911222A}" srcOrd="0" destOrd="0" presId="urn:microsoft.com/office/officeart/2018/2/layout/IconLabelList"/>
    <dgm:cxn modelId="{161D4221-A14B-4A99-A990-33C9CEEFA9BF}" srcId="{06EA63ED-16B7-46B3-B93C-42EDBA60E172}" destId="{EB8FCB79-1F5F-48EC-B1DE-D86A7BB71848}" srcOrd="0" destOrd="0" parTransId="{66D5823D-C00F-4C21-8061-D71DCF01D78B}" sibTransId="{D1E2945C-5EB6-41AD-A19B-368350B301D0}"/>
    <dgm:cxn modelId="{6F02E236-0C5E-4342-B33A-37F2C6182906}" type="presOf" srcId="{5A9DCE45-779A-4EEE-B2EF-5AF9355F5465}" destId="{08E93DCE-F258-4FE9-BB20-109FC6F7299D}" srcOrd="0" destOrd="0" presId="urn:microsoft.com/office/officeart/2018/2/layout/IconLabelList"/>
    <dgm:cxn modelId="{E0F11F7B-00EF-42B3-A8CB-A8E18C96B458}" srcId="{06EA63ED-16B7-46B3-B93C-42EDBA60E172}" destId="{E46165D4-2BE6-4B04-89DB-E2FA3EDE7D56}" srcOrd="1" destOrd="0" parTransId="{0537194C-8D15-4F3C-99FD-F20AA4A2ACF9}" sibTransId="{111247EF-8783-48B9-B859-055222334C37}"/>
    <dgm:cxn modelId="{73EBF281-569F-4E1E-BBF0-4D1D993C5466}" srcId="{06EA63ED-16B7-46B3-B93C-42EDBA60E172}" destId="{5A9DCE45-779A-4EEE-B2EF-5AF9355F5465}" srcOrd="2" destOrd="0" parTransId="{D8FC0C9F-A08E-4587-A3CC-83AF4C80B4A1}" sibTransId="{B21362B9-F594-4D73-AD15-7DB7BFF0A527}"/>
    <dgm:cxn modelId="{F91D859C-FE26-4E9E-8C26-26AA3543B7C5}" type="presOf" srcId="{E46165D4-2BE6-4B04-89DB-E2FA3EDE7D56}" destId="{F6E0B4D2-8E15-4FBD-9EFC-86DF2E7518E3}" srcOrd="0" destOrd="0" presId="urn:microsoft.com/office/officeart/2018/2/layout/IconLabelList"/>
    <dgm:cxn modelId="{18EC5BB4-A531-4F3F-A589-B9DD8E5B40A8}" type="presOf" srcId="{06EA63ED-16B7-46B3-B93C-42EDBA60E172}" destId="{7F0A2ADF-B564-48C6-8AB2-295711D7B440}" srcOrd="0" destOrd="0" presId="urn:microsoft.com/office/officeart/2018/2/layout/IconLabelList"/>
    <dgm:cxn modelId="{C7D74A45-FD7A-44A8-AD86-C51BF6F22886}" type="presParOf" srcId="{7F0A2ADF-B564-48C6-8AB2-295711D7B440}" destId="{1F567DA1-09A3-4808-8C72-1F6507A0AC4D}" srcOrd="0" destOrd="0" presId="urn:microsoft.com/office/officeart/2018/2/layout/IconLabelList"/>
    <dgm:cxn modelId="{C9888EFE-3C66-443E-A9AA-AB291CE97FBA}" type="presParOf" srcId="{1F567DA1-09A3-4808-8C72-1F6507A0AC4D}" destId="{65F3E9AC-FDDF-454C-A2F8-9C76FEA4092D}" srcOrd="0" destOrd="0" presId="urn:microsoft.com/office/officeart/2018/2/layout/IconLabelList"/>
    <dgm:cxn modelId="{1801EB97-27B2-4933-AF0C-4D82DF7DCBD4}" type="presParOf" srcId="{1F567DA1-09A3-4808-8C72-1F6507A0AC4D}" destId="{F8F36D7A-679E-48B2-B4A1-DC907C8108F5}" srcOrd="1" destOrd="0" presId="urn:microsoft.com/office/officeart/2018/2/layout/IconLabelList"/>
    <dgm:cxn modelId="{FB6FA8DE-3002-4113-B711-F5E14A807583}" type="presParOf" srcId="{1F567DA1-09A3-4808-8C72-1F6507A0AC4D}" destId="{34BF752C-45BF-45BA-8ACD-6FB17911222A}" srcOrd="2" destOrd="0" presId="urn:microsoft.com/office/officeart/2018/2/layout/IconLabelList"/>
    <dgm:cxn modelId="{A0E63FDC-4716-410B-9705-AA994C29C6FD}" type="presParOf" srcId="{7F0A2ADF-B564-48C6-8AB2-295711D7B440}" destId="{D3BD1041-F771-40F2-BF40-349C22657F54}" srcOrd="1" destOrd="0" presId="urn:microsoft.com/office/officeart/2018/2/layout/IconLabelList"/>
    <dgm:cxn modelId="{12D85355-00EA-45F8-8B92-456D4EF2AFE8}" type="presParOf" srcId="{7F0A2ADF-B564-48C6-8AB2-295711D7B440}" destId="{3210D44D-DD90-4B74-ADFB-969D326AF1FA}" srcOrd="2" destOrd="0" presId="urn:microsoft.com/office/officeart/2018/2/layout/IconLabelList"/>
    <dgm:cxn modelId="{44061D1D-E5EA-4DBD-8B08-8EBD65AB3761}" type="presParOf" srcId="{3210D44D-DD90-4B74-ADFB-969D326AF1FA}" destId="{60419B37-786E-45F0-B9BB-1C3D36CA312A}" srcOrd="0" destOrd="0" presId="urn:microsoft.com/office/officeart/2018/2/layout/IconLabelList"/>
    <dgm:cxn modelId="{5EB5BA6E-A8F0-49F4-9CBD-4F44254B0C7E}" type="presParOf" srcId="{3210D44D-DD90-4B74-ADFB-969D326AF1FA}" destId="{90B3F48E-6659-4635-A3BC-7FA86659D7D5}" srcOrd="1" destOrd="0" presId="urn:microsoft.com/office/officeart/2018/2/layout/IconLabelList"/>
    <dgm:cxn modelId="{C2A87B98-8DAA-444D-9438-CFE9D534C230}" type="presParOf" srcId="{3210D44D-DD90-4B74-ADFB-969D326AF1FA}" destId="{F6E0B4D2-8E15-4FBD-9EFC-86DF2E7518E3}" srcOrd="2" destOrd="0" presId="urn:microsoft.com/office/officeart/2018/2/layout/IconLabelList"/>
    <dgm:cxn modelId="{533745DD-9FB3-492C-9CEE-0883C01F14AD}" type="presParOf" srcId="{7F0A2ADF-B564-48C6-8AB2-295711D7B440}" destId="{3422D7B3-9CDD-4DA7-80B1-97F29E074252}" srcOrd="3" destOrd="0" presId="urn:microsoft.com/office/officeart/2018/2/layout/IconLabelList"/>
    <dgm:cxn modelId="{762DBCB1-F272-4DF1-8E80-D00FCEFB3967}" type="presParOf" srcId="{7F0A2ADF-B564-48C6-8AB2-295711D7B440}" destId="{C9466720-E9F0-4695-B131-316D409734AB}" srcOrd="4" destOrd="0" presId="urn:microsoft.com/office/officeart/2018/2/layout/IconLabelList"/>
    <dgm:cxn modelId="{868FF833-99D6-42A7-AA47-343BA822E1B1}" type="presParOf" srcId="{C9466720-E9F0-4695-B131-316D409734AB}" destId="{BE0A5134-0DCC-46C2-AF33-83BC97D04519}" srcOrd="0" destOrd="0" presId="urn:microsoft.com/office/officeart/2018/2/layout/IconLabelList"/>
    <dgm:cxn modelId="{54C6C034-C232-4F85-A8E6-F5BF95C15B66}" type="presParOf" srcId="{C9466720-E9F0-4695-B131-316D409734AB}" destId="{A8B68F30-983D-4116-A982-963709340524}" srcOrd="1" destOrd="0" presId="urn:microsoft.com/office/officeart/2018/2/layout/IconLabelList"/>
    <dgm:cxn modelId="{2152B8C1-01EA-4297-84C1-420F63AAA0E0}" type="presParOf" srcId="{C9466720-E9F0-4695-B131-316D409734AB}" destId="{08E93DCE-F258-4FE9-BB20-109FC6F729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F3E9AC-FDDF-454C-A2F8-9C76FEA4092D}">
      <dsp:nvSpPr>
        <dsp:cNvPr id="0" name=""/>
        <dsp:cNvSpPr/>
      </dsp:nvSpPr>
      <dsp:spPr>
        <a:xfrm>
          <a:off x="915389" y="632537"/>
          <a:ext cx="1248817" cy="12488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F752C-45BF-45BA-8ACD-6FB17911222A}">
      <dsp:nvSpPr>
        <dsp:cNvPr id="0" name=""/>
        <dsp:cNvSpPr/>
      </dsp:nvSpPr>
      <dsp:spPr>
        <a:xfrm>
          <a:off x="152223" y="2228862"/>
          <a:ext cx="27751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Used Jupyter Notebook to merge csv files and analyze data from BERT model output. </a:t>
          </a:r>
        </a:p>
      </dsp:txBody>
      <dsp:txXfrm>
        <a:off x="152223" y="2228862"/>
        <a:ext cx="2775150" cy="720000"/>
      </dsp:txXfrm>
    </dsp:sp>
    <dsp:sp modelId="{60419B37-786E-45F0-B9BB-1C3D36CA312A}">
      <dsp:nvSpPr>
        <dsp:cNvPr id="0" name=""/>
        <dsp:cNvSpPr/>
      </dsp:nvSpPr>
      <dsp:spPr>
        <a:xfrm>
          <a:off x="4176191" y="632537"/>
          <a:ext cx="1248817" cy="12488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0B4D2-8E15-4FBD-9EFC-86DF2E7518E3}">
      <dsp:nvSpPr>
        <dsp:cNvPr id="0" name=""/>
        <dsp:cNvSpPr/>
      </dsp:nvSpPr>
      <dsp:spPr>
        <a:xfrm>
          <a:off x="3413025" y="2228862"/>
          <a:ext cx="27751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Decision Tree performed better than Logistic Regression for predicting which match a comment came from. </a:t>
          </a:r>
        </a:p>
      </dsp:txBody>
      <dsp:txXfrm>
        <a:off x="3413025" y="2228862"/>
        <a:ext cx="2775150" cy="720000"/>
      </dsp:txXfrm>
    </dsp:sp>
    <dsp:sp modelId="{BE0A5134-0DCC-46C2-AF33-83BC97D04519}">
      <dsp:nvSpPr>
        <dsp:cNvPr id="0" name=""/>
        <dsp:cNvSpPr/>
      </dsp:nvSpPr>
      <dsp:spPr>
        <a:xfrm>
          <a:off x="7436992" y="632537"/>
          <a:ext cx="1248817" cy="12488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93DCE-F258-4FE9-BB20-109FC6F7299D}">
      <dsp:nvSpPr>
        <dsp:cNvPr id="0" name=""/>
        <dsp:cNvSpPr/>
      </dsp:nvSpPr>
      <dsp:spPr>
        <a:xfrm>
          <a:off x="6673826" y="2228862"/>
          <a:ext cx="27751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Visualized data in Jupyter Notebook before moving into Streamlit app</a:t>
          </a:r>
        </a:p>
      </dsp:txBody>
      <dsp:txXfrm>
        <a:off x="6673826" y="2228862"/>
        <a:ext cx="27751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830932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7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5195291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8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0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49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8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910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968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80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49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3C1082A-C5E7-D443-AE0F-28B99B42AFF1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5E1E585-FFC3-1B43-862D-E806A4DDDF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90918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JYhp4bqJQA?si=oZQCie2Zk3SFBebq" TargetMode="External"/><Relationship Id="rId2" Type="http://schemas.openxmlformats.org/officeDocument/2006/relationships/hyperlink" Target="https://youtu.be/NCTWM8P3oEk?si=qhc1cW7VQ7oyPXyQ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monologg/bert-base-cased-goemotions-original" TargetMode="External"/><Relationship Id="rId2" Type="http://schemas.openxmlformats.org/officeDocument/2006/relationships/hyperlink" Target="https://huggingface.co/monologg/koelectra-base-v3-hate-speech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monologg/bert-base-cased-goemotions-original" TargetMode="External"/><Relationship Id="rId2" Type="http://schemas.openxmlformats.org/officeDocument/2006/relationships/hyperlink" Target="https://huggingface.co/monologg/koelectra-base-v3-hate-speech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nveshakR/Reddit-Sports-Sentiment-Analysis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173F-9414-ED64-3F6B-A5AD9764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3295" y="1083732"/>
            <a:ext cx="5509628" cy="4690534"/>
          </a:xfrm>
        </p:spPr>
        <p:txBody>
          <a:bodyPr anchor="ctr">
            <a:normAutofit/>
          </a:bodyPr>
          <a:lstStyle/>
          <a:p>
            <a:pPr algn="r"/>
            <a:r>
              <a:rPr lang="en-US" sz="7200">
                <a:solidFill>
                  <a:schemeClr val="tx1">
                    <a:lumMod val="75000"/>
                    <a:lumOff val="25000"/>
                  </a:schemeClr>
                </a:solidFill>
              </a:rPr>
              <a:t>CS 688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34E71-14A2-B375-28CF-0088F4429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6389" y="1083732"/>
            <a:ext cx="3507654" cy="4690534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BERT Sentiment Analysis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By: Aaron T. 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 ID:U53804325</a:t>
            </a:r>
          </a:p>
        </p:txBody>
      </p:sp>
    </p:spTree>
    <p:extLst>
      <p:ext uri="{BB962C8B-B14F-4D97-AF65-F5344CB8AC3E}">
        <p14:creationId xmlns:p14="http://schemas.microsoft.com/office/powerpoint/2010/main" val="31335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EBD0-510E-7656-7DDE-26A9B3A54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D7F8A-960E-0666-0E17-B4031FF83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Racist acts in soccer from both players and fans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https://youtu.be/NCTWM8P3oEk?si=qhc1cW7VQ7oyPXyQ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https://youtu.be/eJYhp4bqJQA?si=oZQCie2Zk3SFBebq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615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C4AF2-BFF2-DABC-E527-3F69E472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48FBB-848A-93FF-2B99-849B76EA1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Reddit comments from past game threads to analyze emotions or hateful speech using BERT model.</a:t>
            </a:r>
          </a:p>
        </p:txBody>
      </p:sp>
      <p:pic>
        <p:nvPicPr>
          <p:cNvPr id="1026" name="Picture 2" descr="Premier League reinforces there is No Room For Racism ...">
            <a:extLst>
              <a:ext uri="{FF2B5EF4-FFF2-40B4-BE49-F238E27FC236}">
                <a16:creationId xmlns:a16="http://schemas.microsoft.com/office/drawing/2014/main" id="{99B4089C-34CF-B49A-294F-DA6C71758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840" y="3429000"/>
            <a:ext cx="5608320" cy="315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426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9916-2F68-A9E8-DBF1-80A88F76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BERT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B369B-448E-2251-CB92-BA6E435FF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Bidirectional Encoder Representations from Transformers (BERT)</a:t>
            </a:r>
          </a:p>
          <a:p>
            <a:r>
              <a:rPr lang="en-US" dirty="0"/>
              <a:t>Created by Google</a:t>
            </a:r>
          </a:p>
          <a:p>
            <a:r>
              <a:rPr lang="en-US" dirty="0"/>
              <a:t>BERT analyzes the relationships between words in a sentence by looking at them from both the left and right. It's trained on large amounts of text data, such as Wikipedia and Google's </a:t>
            </a:r>
            <a:r>
              <a:rPr lang="en-US" dirty="0" err="1"/>
              <a:t>BooksCorpus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2888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11AD-EAB6-2655-AC06-7DF893CFB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B3A7B-522A-D779-D87C-808B87DA8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Scrape Reddit for post match thread comments</a:t>
            </a:r>
          </a:p>
          <a:p>
            <a:r>
              <a:rPr lang="en-US" dirty="0"/>
              <a:t>Clean csv files</a:t>
            </a:r>
          </a:p>
          <a:p>
            <a:r>
              <a:rPr lang="en-US" dirty="0"/>
              <a:t>Remove emojis from comments</a:t>
            </a:r>
          </a:p>
        </p:txBody>
      </p:sp>
      <p:pic>
        <p:nvPicPr>
          <p:cNvPr id="2050" name="Picture 2" descr="Mr Clean | Chase Design Group">
            <a:extLst>
              <a:ext uri="{FF2B5EF4-FFF2-40B4-BE49-F238E27FC236}">
                <a16:creationId xmlns:a16="http://schemas.microsoft.com/office/drawing/2014/main" id="{6208EAFF-6DB2-18A8-C045-3AE84E063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623" y="3848100"/>
            <a:ext cx="24511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834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48BB-848A-D3BD-8B71-B4A3D3D1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6591-8797-F198-2223-6A4098934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Hugging face hate speech transformer</a:t>
            </a:r>
          </a:p>
          <a:p>
            <a:pPr lvl="1"/>
            <a:r>
              <a:rPr lang="en-US" dirty="0">
                <a:hlinkClick r:id="rId2"/>
              </a:rPr>
              <a:t>https://huggingface.co/monologg/koelectra-base-v3-hate-speech</a:t>
            </a:r>
            <a:endParaRPr lang="en-US" dirty="0"/>
          </a:p>
          <a:p>
            <a:r>
              <a:rPr lang="en-US" dirty="0"/>
              <a:t>Hugging face go-emotions</a:t>
            </a:r>
          </a:p>
          <a:p>
            <a:pPr lvl="1"/>
            <a:r>
              <a:rPr lang="en-US" dirty="0">
                <a:hlinkClick r:id="rId3"/>
              </a:rPr>
              <a:t>https://huggingface.co/monologg/bert-base-cased-goemotions-original</a:t>
            </a:r>
            <a:endParaRPr lang="en-US" dirty="0"/>
          </a:p>
          <a:p>
            <a:r>
              <a:rPr lang="en-US" dirty="0"/>
              <a:t>Predict fan emotions and hateful speech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451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559F-8FC0-7BC3-B787-C9FBD9F6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en-US" dirty="0"/>
              <a:t>Experimentation &amp; Visualization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9ADC81-1F57-22FF-DA61-7E2D2682C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091380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3407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24C30-0D32-9331-329D-3D64DE773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14474-82D4-1287-C39E-B36964BF1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more difficult to predict hateful speech than a person’s emotions in a Reddit comment about a soccer match. </a:t>
            </a:r>
          </a:p>
          <a:p>
            <a:r>
              <a:rPr lang="en-US" dirty="0"/>
              <a:t>Is it possible to extinguish racism from soccer, and how should it be dealt with for either party of players or fans?</a:t>
            </a:r>
          </a:p>
        </p:txBody>
      </p:sp>
    </p:spTree>
    <p:extLst>
      <p:ext uri="{BB962C8B-B14F-4D97-AF65-F5344CB8AC3E}">
        <p14:creationId xmlns:p14="http://schemas.microsoft.com/office/powerpoint/2010/main" val="208079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271C3-8FCB-D8B4-EA09-E684F05B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F933B-6309-81C6-18D1-DB901079B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different sports</a:t>
            </a:r>
          </a:p>
          <a:p>
            <a:r>
              <a:rPr lang="en-US" dirty="0"/>
              <a:t>Conduct a more thorough cleaning of csv files</a:t>
            </a:r>
          </a:p>
          <a:p>
            <a:r>
              <a:rPr lang="en-US" dirty="0"/>
              <a:t>Tuning BERT model to try and squeeze out more accurate results</a:t>
            </a:r>
          </a:p>
        </p:txBody>
      </p:sp>
    </p:spTree>
    <p:extLst>
      <p:ext uri="{BB962C8B-B14F-4D97-AF65-F5344CB8AC3E}">
        <p14:creationId xmlns:p14="http://schemas.microsoft.com/office/powerpoint/2010/main" val="3917240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3B82-1367-F526-5F55-9CF0D87D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82F8C-F7E1-8853-8F90-F28DDBC16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https://huggingface.co/monologg/koelectra-base-v3-hate-speech</a:t>
            </a:r>
            <a:endParaRPr lang="en-US" dirty="0"/>
          </a:p>
          <a:p>
            <a:r>
              <a:rPr lang="en-US" dirty="0">
                <a:hlinkClick r:id="rId3"/>
              </a:rPr>
              <a:t>https://huggingface.co/monologg/bert-base-cased-goemotions-original</a:t>
            </a:r>
            <a:endParaRPr lang="en-US" dirty="0"/>
          </a:p>
          <a:p>
            <a:r>
              <a:rPr lang="en-US" dirty="0"/>
              <a:t>Project Idea:</a:t>
            </a:r>
          </a:p>
          <a:p>
            <a:pPr lvl="1"/>
            <a:r>
              <a:rPr lang="en-US" dirty="0">
                <a:hlinkClick r:id="rId4"/>
              </a:rPr>
              <a:t>https://github.com/AnveshakR/Reddit-Sports-Sentiment-Analysis/tree/main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74636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417</TotalTime>
  <Words>317</Words>
  <Application>Microsoft Macintosh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Franklin Gothic Book</vt:lpstr>
      <vt:lpstr>Crop</vt:lpstr>
      <vt:lpstr>CS 688 Project</vt:lpstr>
      <vt:lpstr>Problem</vt:lpstr>
      <vt:lpstr>Project Idea</vt:lpstr>
      <vt:lpstr>What is a BERT Model</vt:lpstr>
      <vt:lpstr>Data Preparation </vt:lpstr>
      <vt:lpstr>BERT Model</vt:lpstr>
      <vt:lpstr>Experimentation &amp; Visualization </vt:lpstr>
      <vt:lpstr>Conclusion</vt:lpstr>
      <vt:lpstr>Expanding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C Taylor</dc:creator>
  <cp:lastModifiedBy>Aaron C Taylor</cp:lastModifiedBy>
  <cp:revision>3</cp:revision>
  <dcterms:created xsi:type="dcterms:W3CDTF">2024-12-05T15:21:11Z</dcterms:created>
  <dcterms:modified xsi:type="dcterms:W3CDTF">2024-12-05T22:18:31Z</dcterms:modified>
</cp:coreProperties>
</file>